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217920"/>
            <a:ext cx="12192000" cy="640080"/>
          </a:xfrm>
          <a:prstGeom prst="rect">
            <a:avLst/>
          </a:prstGeom>
          <a:solidFill>
            <a:srgbClr val="142D5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TopMed</a:t>
            </a:r>
            <a:endParaRPr lang="en-US" sz="4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Insights Bank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371600" y="365760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Additional Insight Ideas &amp; Strategic Analysis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0" y="4389120"/>
            <a:ext cx="3959352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572000"/>
            <a:ext cx="9445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by: Ahmed Nasr, Delivery PMO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March 2026 |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TopMed Insights Bank | March 2026 |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371600" y="10972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Part 1: New Insight Areas (6 departments)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7373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Part 2: Expansions to Existing Areas (5 departments)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3774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Part 3: Priority Matrix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30175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Part 4: Sample Insight Briefs (11 detailed briefs)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6576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Part 5: Cross-Department Insights (6 cross-functional opportunities)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42976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8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Part 6: KPI Benchmarks &amp; Industry Standards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49377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8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 Part 7: Data Source Mapping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SAR 65M+ in identified improvement opportunities across 11 areas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TopMed Insights Bank | March 2026 | 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011680" cy="1828800"/>
          </a:xfrm>
          <a:prstGeom prst="roundRect">
            <a:avLst>
              <a:gd name="adj" fmla="val 7500"/>
            </a:avLst>
          </a:prstGeom>
          <a:solidFill>
            <a:srgbClr val="EDF1F7"/>
          </a:solidFill>
          <a:ln w="25400">
            <a:solidFill>
              <a:srgbClr val="1A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8016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Areas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0" y="1188720"/>
            <a:ext cx="2011680" cy="1828800"/>
          </a:xfrm>
          <a:prstGeom prst="roundRect">
            <a:avLst>
              <a:gd name="adj" fmla="val 7500"/>
            </a:avLst>
          </a:prstGeom>
          <a:solidFill>
            <a:srgbClr val="EDF1F7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128016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74320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Areas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1188720"/>
            <a:ext cx="2011680" cy="1828800"/>
          </a:xfrm>
          <a:prstGeom prst="roundRect">
            <a:avLst>
              <a:gd name="adj" fmla="val 7500"/>
            </a:avLst>
          </a:prstGeom>
          <a:solidFill>
            <a:srgbClr val="EDF1F7"/>
          </a:solidFill>
          <a:ln w="25400">
            <a:solidFill>
              <a:srgbClr val="0D8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28016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8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502920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Briefs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0" y="1188720"/>
            <a:ext cx="2011680" cy="1828800"/>
          </a:xfrm>
          <a:prstGeom prst="roundRect">
            <a:avLst>
              <a:gd name="adj" fmla="val 7500"/>
            </a:avLst>
          </a:prstGeom>
          <a:solidFill>
            <a:srgbClr val="EDF1F7"/>
          </a:solidFill>
          <a:ln w="25400">
            <a:solidFill>
              <a:srgbClr val="D474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128016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74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731520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Cross-Dept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01200" y="1188720"/>
            <a:ext cx="2011680" cy="1828800"/>
          </a:xfrm>
          <a:prstGeom prst="roundRect">
            <a:avLst>
              <a:gd name="adj" fmla="val 7500"/>
            </a:avLst>
          </a:prstGeom>
          <a:solidFill>
            <a:srgbClr val="EDF1F7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0" y="128016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960120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Benchmarks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Financial Opportunities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3749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SAR 18M working capital release (AR Optimization)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4160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SAR 12M surgical pathway conversion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SAR 10.7M no-show revenue recovery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4983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SAR 8.4M OPD slot utilization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5394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SAR 5.2M procurement standardization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📊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3840480"/>
            <a:ext cx="9445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Insight Areas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 Emergency Department (ED)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INSIGHT AREA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TopMed Insights Bank | March 2026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Analytical Questions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530352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6304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8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 Titles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5303520" cy="27432"/>
          </a:xfrm>
          <a:prstGeom prst="rect">
            <a:avLst/>
          </a:prstGeom>
          <a:solidFill>
            <a:srgbClr val="0D8050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46304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ED Door-to-Doctor Time Variance Across Shifts</a:t>
            </a:r>
            <a:endParaRPr lang="en-US" sz="1000" dirty="0"/>
          </a:p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ED Patient Boarding and Disposition Delays</a:t>
            </a:r>
            <a:endParaRPr lang="en-US" sz="1000" dirty="0"/>
          </a:p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Left Without Being Seen (LWBS) Rate and Revenue Impact</a:t>
            </a:r>
            <a:endParaRPr lang="en-US" sz="1000" dirty="0"/>
          </a:p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Triage Accuracy and Acuity-Based Resource Allocation</a:t>
            </a:r>
            <a:endParaRPr lang="en-US" sz="1000" dirty="0"/>
          </a:p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ED-to-Inpatient Conversion Rate by Specialty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1005840"/>
            <a:ext cx="18288" cy="5029200"/>
          </a:xfrm>
          <a:prstGeom prst="rect">
            <a:avLst/>
          </a:prstGeom>
          <a:solidFill>
            <a:srgbClr val="CCCCCC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🏥  Inpatient Department (IPD)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INSIGHT AREA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TopMed Insights Bank | March 2026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Analytical Questions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530352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6304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8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 Titles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5303520" cy="27432"/>
          </a:xfrm>
          <a:prstGeom prst="rect">
            <a:avLst/>
          </a:prstGeom>
          <a:solidFill>
            <a:srgbClr val="0D8050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46304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Length of Stay Optimization by Clinical Specialty</a:t>
            </a:r>
            <a:endParaRPr lang="en-US" sz="1000" dirty="0"/>
          </a:p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Bed Occupancy Imbalance Across Hospital Wards</a:t>
            </a:r>
            <a:endParaRPr lang="en-US" sz="1000" dirty="0"/>
          </a:p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30-Day Readmission Rates and Root Causes</a:t>
            </a:r>
            <a:endParaRPr lang="en-US" sz="1000" dirty="0"/>
          </a:p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Delayed Discharge and Bed Turnover Impact</a:t>
            </a:r>
            <a:endParaRPr lang="en-US" sz="1000" dirty="0"/>
          </a:p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Same-Day Surgical Cancellation Rate and Revenue Loss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1005840"/>
            <a:ext cx="18288" cy="5029200"/>
          </a:xfrm>
          <a:prstGeom prst="rect">
            <a:avLst/>
          </a:prstGeom>
          <a:solidFill>
            <a:srgbClr val="CCCCCC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💊  Pharmacy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INSIGHT AREA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TopMed Insights Bank | March 2026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Analytical Questions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530352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6304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8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 Titles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5303520" cy="27432"/>
          </a:xfrm>
          <a:prstGeom prst="rect">
            <a:avLst/>
          </a:prstGeom>
          <a:solidFill>
            <a:srgbClr val="0D8050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46304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High-Cost Medication Substitution Opportunities</a:t>
            </a:r>
            <a:endParaRPr lang="en-US" sz="1000" dirty="0"/>
          </a:p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Pharmacy Stock-Out and Expiry Rate Analysis</a:t>
            </a:r>
            <a:endParaRPr lang="en-US" sz="1000" dirty="0"/>
          </a:p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Medication Dispensing Turnaround Time</a:t>
            </a:r>
            <a:endParaRPr lang="en-US" sz="1000" dirty="0"/>
          </a:p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Formulary Adherence Rate by Prescriber</a:t>
            </a:r>
            <a:endParaRPr lang="en-US" sz="1000" dirty="0"/>
          </a:p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Outpatient Pharmacy Revenue Optimization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1005840"/>
            <a:ext cx="18288" cy="5029200"/>
          </a:xfrm>
          <a:prstGeom prst="rect">
            <a:avLst/>
          </a:prstGeom>
          <a:solidFill>
            <a:srgbClr val="CCCCCC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⭐  Patient Experience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INSIGHT AREA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TopMed Insights Bank | March 2026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Analytical Questions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530352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6304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8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 Titles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5303520" cy="27432"/>
          </a:xfrm>
          <a:prstGeom prst="rect">
            <a:avLst/>
          </a:prstGeom>
          <a:solidFill>
            <a:srgbClr val="0D8050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46304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Patient Satisfaction Score Trends by Department</a:t>
            </a:r>
            <a:endParaRPr lang="en-US" sz="1000" dirty="0"/>
          </a:p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Wait Time Impact on Patient Retention</a:t>
            </a:r>
            <a:endParaRPr lang="en-US" sz="1000" dirty="0"/>
          </a:p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Patient No-Show Patterns and Financial Impact</a:t>
            </a:r>
            <a:endParaRPr lang="en-US" sz="1000" dirty="0"/>
          </a:p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Patient Retention and Follow-Up Compliance</a:t>
            </a:r>
            <a:endParaRPr lang="en-US" sz="1000" dirty="0"/>
          </a:p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Digital Reputation vs. Internal Quality Gap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1005840"/>
            <a:ext cx="18288" cy="5029200"/>
          </a:xfrm>
          <a:prstGeom prst="rect">
            <a:avLst/>
          </a:prstGeom>
          <a:solidFill>
            <a:srgbClr val="CCCCCC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 Supply Chain &amp; Procurement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INSIGHT AREA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TopMed Insights Bank | March 2026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Analytical Questions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530352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6304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8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 Titles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5303520" cy="27432"/>
          </a:xfrm>
          <a:prstGeom prst="rect">
            <a:avLst/>
          </a:prstGeom>
          <a:solidFill>
            <a:srgbClr val="0D8050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46304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Medical Consumable Cost Per Patient Trend</a:t>
            </a:r>
            <a:endParaRPr lang="en-US" sz="1000" dirty="0"/>
          </a:p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Cross-Hospital Procurement Price Variance</a:t>
            </a:r>
            <a:endParaRPr lang="en-US" sz="1000" dirty="0"/>
          </a:p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Vendor Contract Renewal Optimization</a:t>
            </a:r>
            <a:endParaRPr lang="en-US" sz="1000" dirty="0"/>
          </a:p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Inventory Carrying Cost vs. Consumption Efficiency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1005840"/>
            <a:ext cx="18288" cy="5029200"/>
          </a:xfrm>
          <a:prstGeom prst="rect">
            <a:avLst/>
          </a:prstGeom>
          <a:solidFill>
            <a:srgbClr val="CCCCCC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 Quality &amp; Clinical Safety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INSIGHT AREA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TopMed Insights Bank | March 2026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Analytical Questions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530352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6304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8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 Titles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5303520" cy="27432"/>
          </a:xfrm>
          <a:prstGeom prst="rect">
            <a:avLst/>
          </a:prstGeom>
          <a:solidFill>
            <a:srgbClr val="0D8050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46304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Hospital-Acquired Infection Rate Trends</a:t>
            </a:r>
            <a:endParaRPr lang="en-US" sz="1000" dirty="0"/>
          </a:p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Incident Reporting Culture and Near-Miss Trends</a:t>
            </a:r>
            <a:endParaRPr lang="en-US" sz="1000" dirty="0"/>
          </a:p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Clinical Protocol Adherence Across Network</a:t>
            </a:r>
            <a:endParaRPr lang="en-US" sz="1000" dirty="0"/>
          </a:p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Nurse-to-Patient Ratio Impact on Safety Events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1005840"/>
            <a:ext cx="18288" cy="5029200"/>
          </a:xfrm>
          <a:prstGeom prst="rect">
            <a:avLst/>
          </a:prstGeom>
          <a:solidFill>
            <a:srgbClr val="CCCCCC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📈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3840480"/>
            <a:ext cx="9445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Expansions to Existing Areas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🩻  Radiology (Additional)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EXPANSION TO EXISTING AREA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TopMed Insights Bank | March 2026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Analytical Questions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530352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6304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8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 Titles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5303520" cy="27432"/>
          </a:xfrm>
          <a:prstGeom prst="rect">
            <a:avLst/>
          </a:prstGeom>
          <a:solidFill>
            <a:srgbClr val="0D8050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46304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Radiology Report Turnaround Time by Modality</a:t>
            </a:r>
            <a:endParaRPr lang="en-US" sz="1000" dirty="0"/>
          </a:p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Radiology Repeat Study Rate and Quality Impact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1005840"/>
            <a:ext cx="18288" cy="5029200"/>
          </a:xfrm>
          <a:prstGeom prst="rect">
            <a:avLst/>
          </a:prstGeom>
          <a:solidFill>
            <a:srgbClr val="CCCCCC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🔬  Laboratory (Additional)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EXPANSION TO EXISTING AREA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TopMed Insights Bank | March 2026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Analytical Questions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530352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6304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8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 Titles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5303520" cy="27432"/>
          </a:xfrm>
          <a:prstGeom prst="rect">
            <a:avLst/>
          </a:prstGeom>
          <a:solidFill>
            <a:srgbClr val="0D8050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46304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Critical Lab Value Notification Compliance</a:t>
            </a:r>
            <a:endParaRPr lang="en-US" sz="1000" dirty="0"/>
          </a:p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In-House vs. Send-Out Test Migration Opportunity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1005840"/>
            <a:ext cx="18288" cy="5029200"/>
          </a:xfrm>
          <a:prstGeom prst="rect">
            <a:avLst/>
          </a:prstGeom>
          <a:solidFill>
            <a:srgbClr val="CCCCCC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🩺  OPD (Additional)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EXPANSION TO EXISTING AREA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TopMed Insights Bank | March 2026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Analytical Questions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530352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6304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8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 Titles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5303520" cy="27432"/>
          </a:xfrm>
          <a:prstGeom prst="rect">
            <a:avLst/>
          </a:prstGeom>
          <a:solidFill>
            <a:srgbClr val="0D8050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46304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New Patient Acquisition Rate by Specialty</a:t>
            </a:r>
            <a:endParaRPr lang="en-US" sz="1000" dirty="0"/>
          </a:p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Doctor Productivity and Clinic Slot Utilization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1005840"/>
            <a:ext cx="18288" cy="5029200"/>
          </a:xfrm>
          <a:prstGeom prst="rect">
            <a:avLst/>
          </a:prstGeom>
          <a:solidFill>
            <a:srgbClr val="CCCCCC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💰  Revenue Cycle (Additional)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EXPANSION TO EXISTING AREA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TopMed Insights Bank | March 2026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Analytical Questions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530352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6304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8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 Titles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5303520" cy="27432"/>
          </a:xfrm>
          <a:prstGeom prst="rect">
            <a:avLst/>
          </a:prstGeom>
          <a:solidFill>
            <a:srgbClr val="0D8050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46304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Accounts Receivable Aging by Payer Category</a:t>
            </a:r>
            <a:endParaRPr lang="en-US" sz="1000" dirty="0"/>
          </a:p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Self-Pay Collection Rate Decline</a:t>
            </a:r>
            <a:endParaRPr lang="en-US" sz="1000" dirty="0"/>
          </a:p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Payer Mix Shift and Margin Impact Analysis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1005840"/>
            <a:ext cx="18288" cy="5029200"/>
          </a:xfrm>
          <a:prstGeom prst="rect">
            <a:avLst/>
          </a:prstGeom>
          <a:solidFill>
            <a:srgbClr val="CCCCCC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 Operational Efficiency (Additional)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EXPANSION TO EXISTING AREA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TopMed Insights Bank | March 2026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Analytical Questions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530352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6304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8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 Titles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5303520" cy="27432"/>
          </a:xfrm>
          <a:prstGeom prst="rect">
            <a:avLst/>
          </a:prstGeom>
          <a:solidFill>
            <a:srgbClr val="0D8050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46304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Overtime Cost vs. Patient Volume Correlation</a:t>
            </a:r>
            <a:endParaRPr lang="en-US" sz="1000" dirty="0"/>
          </a:p>
          <a:p>
            <a:pPr indent="0" marL="0">
              <a:lnSpc>
                <a:spcPct val="1400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Facility Cost Per Occupied Bed-Day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1005840"/>
            <a:ext cx="18288" cy="5029200"/>
          </a:xfrm>
          <a:prstGeom prst="rect">
            <a:avLst/>
          </a:prstGeom>
          <a:solidFill>
            <a:srgbClr val="CCCCCC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🎯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3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3840480"/>
            <a:ext cx="9445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 Matrix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 Matrix: Revenue Impact x Readiness x Complexity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TopMed Insights Bank | March 2026 | Confidential</a:t>
            </a:r>
            <a:endParaRPr lang="en-US" sz="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116128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200400"/>
                <a:gridCol w="2286000"/>
                <a:gridCol w="228600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Insight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Revenue Impact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Data Readiness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Complexity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</a:rPr>
                        <a:t>AR Aging by Payer Category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SAR 18M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8050"/>
                          </a:solidFill>
                        </a:rPr>
                        <a:t>Available Now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</a:rPr>
                        <a:t>OPD Slot Utilization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SAR 8.4M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8050"/>
                          </a:solidFill>
                        </a:rPr>
                        <a:t>Available Now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Quick Win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</a:rPr>
                        <a:t>Cross-Hospital Procurement Variance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SAR 5.2M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8050"/>
                          </a:solidFill>
                        </a:rPr>
                        <a:t>Available Now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</a:rPr>
                        <a:t>Delayed Discharge / Bed Turnover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SAR 4.3M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8050"/>
                          </a:solidFill>
                        </a:rPr>
                        <a:t>Available Now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</a:rPr>
                        <a:t>Patient No-Show Patterns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SAR 10.7M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8050"/>
                          </a:solidFill>
                        </a:rPr>
                        <a:t>Available Now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Quick Win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4740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</a:rPr>
                        <a:t>Medication Substitution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SAR 2.5-3.8M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4740A"/>
                          </a:solidFill>
                        </a:rPr>
                        <a:t>Needs Collection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4740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</a:rPr>
                        <a:t>ED LWBS Rate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SAR 2.1M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8050"/>
                          </a:solidFill>
                        </a:rPr>
                        <a:t>Available Now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Quick Win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4740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</a:rPr>
                        <a:t>Overtime vs. Volume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SAR 3.6M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8050"/>
                          </a:solidFill>
                        </a:rPr>
                        <a:t>Available Now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4740A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</a:rPr>
                        <a:t>Radiology Report TAT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SAR 1.8M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8050"/>
                          </a:solidFill>
                        </a:rPr>
                        <a:t>Available Now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Quick Win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8050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</a:rPr>
                        <a:t>Send-Out Test Migration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SAR 1.4M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4740A"/>
                          </a:solidFill>
                        </a:rPr>
                        <a:t>Needs Collection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Major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8050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</a:rPr>
                        <a:t>Near-Miss Reporting Culture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Risk Mitigation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4740A"/>
                          </a:solidFill>
                        </a:rPr>
                        <a:t>Needs Collection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Major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8050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</a:rPr>
                        <a:t>Digital Reputation vs Quality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Brand Value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4740A"/>
                          </a:solidFill>
                        </a:rPr>
                        <a:t>Needs Integration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5943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</a:rPr>
              <a:t>🔴 Start Immediately (Top 5)   </a:t>
            </a:r>
            <a:pPr indent="0" marL="0">
              <a:buNone/>
            </a:pPr>
            <a:r>
              <a:rPr lang="en-US" sz="900" dirty="0">
                <a:solidFill>
                  <a:srgbClr val="D4740A"/>
                </a:solidFill>
              </a:rPr>
              <a:t>🟡 Plan This Quarter   </a:t>
            </a:r>
            <a:pPr indent="0" marL="0">
              <a:buNone/>
            </a:pPr>
            <a:r>
              <a:rPr lang="en-US" sz="900" dirty="0">
                <a:solidFill>
                  <a:srgbClr val="0D8050"/>
                </a:solidFill>
              </a:rPr>
              <a:t>🟢 Next Quarter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📋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4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3840480"/>
            <a:ext cx="9445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Sample Insight Briefs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 Left Without Being Seen (LWBS) Rate and Revenue Impact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Emergency Department | Confidence: High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TopMed Insights Bank | March 2026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Observation: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LWBS rate increased from 3.2% to 5.8% over the past two quarters, with the highest walkout rates occurring between 6:00 PM and 10:00 PM.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81051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Supporting Evidence: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door-to-doctor time exceeds 45 minutes during evening peak hours. Patient walkout incidents correlate with triage nurse shift changeover gaps (5:30-6:30 PM). Weekend LWBS rates are 40% higher than weekdays.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615184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Insufficient triage staffing during evening shift changeover window, combined with no fast-track pathway for low-acuity patients (ESI Level 4-5) who represent 35% of evening volume.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419856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Estimated annual revenue loss of SAR 2.1 Million from walkout patients. Additional risk of negative online reviews and patient diversion to competing facilities.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422452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D8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 triage overlap shift (5:00-7:00 PM). Create fast-track pathway for low-acuity patients. Install real-time wait time display. Set up automated SMS notification when patient is next.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50292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E75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Importance: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Reducing LWBS by 50% directly impacts both revenue recovery (SAR 1.05M) and patient satisfaction scores, increasingly tied to insurance network inclusion criteria in KSA.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515600" y="621792"/>
            <a:ext cx="1188720" cy="292608"/>
          </a:xfrm>
          <a:prstGeom prst="roundRect">
            <a:avLst>
              <a:gd name="adj" fmla="val 31250"/>
            </a:avLst>
          </a:prstGeom>
          <a:solidFill>
            <a:srgbClr val="0D8050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0" y="62179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🏥  Delayed Discharge and Bed Turnover Impact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Inpatient Department | Confidence: High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TopMed Insights Bank | March 2026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Observation: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time from physician discharge order to actual patient departure is 6.2 hours, against a target of 2 hours. This creates a daily average of 12 blocked beds across the network.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81051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Supporting Evidence: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Discharge orders peak at 11:00 AM but actual departures peak at 5:00 PM. Pharmacy medication reconciliation averages 2.1 hours. Insurance pre-authorization for follow-up adds 1.5 hours.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615184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Sequential discharge process instead of parallel processing. No discharge planning initiated at admission. Lack of discharge lounge for patients cleared but awaiting transport.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419856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blocked beds daily translates to approximately SAR 4.3 Million in annual lost admission revenue. ED boarding times increase by 2.3 hours when IPD beds are blocked.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422452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D8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 parallel discharge processing. Begin discharge planning at Day 1 of admission. Create discharge lounge to free beds immediately. Set discharge time targets by ward.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50292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E75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Importance: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50% improvement in discharge time would free 6 beds daily, equivalent to adding a new ward without capital expenditure.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515600" y="621792"/>
            <a:ext cx="1188720" cy="292608"/>
          </a:xfrm>
          <a:prstGeom prst="roundRect">
            <a:avLst>
              <a:gd name="adj" fmla="val 31250"/>
            </a:avLst>
          </a:prstGeom>
          <a:solidFill>
            <a:srgbClr val="0D8050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0" y="62179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💊  High-Cost Medication Substitution Opportunities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Pharmacy | Confidence: Medium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TopMed Insights Bank | March 2026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Observation: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 of top 50 medications by spend reveals 18 branded drugs have therapeutically equivalent generic or biosimilar alternatives, representing 31% of total pharmacy expenditure.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81051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Supporting Evidence: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spend on substitutable branded medications averages SAR 420,000. Generic alternatives are 40-75% cheaper. Three hospitals already use generics for 8 of these with no efficacy differences.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615184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standardized formulary review cycle. Physician prescribing habits favor familiar branded products. P&amp;T committee meets quarterly but lacks cost-effectiveness analysis.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419856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Potential annual savings of SAR 2.5-3.8 Million from generic/biosimilar substitution across the network, with no compromise in clinical outcomes.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422452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D8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Conduct formulary review for top 50 drugs with cost-effectiveness analysis. Present substitution recommendations to P&amp;T committee. Implement therapeutic interchange protocols.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50292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E75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Importance: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Pharmacy cost optimization delivers immediate P&amp;L improvement. Positions TopMed aligned with Saudi Vision 2030 healthcare cost efficiency goals.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515600" y="621792"/>
            <a:ext cx="1188720" cy="292608"/>
          </a:xfrm>
          <a:prstGeom prst="roundRect">
            <a:avLst>
              <a:gd name="adj" fmla="val 31250"/>
            </a:avLst>
          </a:prstGeom>
          <a:solidFill>
            <a:srgbClr val="D4740A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0" y="62179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⭐  Patient No-Show Patterns and Financial Impact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Patient Experience | Confidence: High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TopMed Insights Bank | March 2026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Observation: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OPD no-show rate is 22%, with Dermatology (31%) and Ophthalmology (28%) significantly higher. No-show rates 3x higher for appointments booked &gt;14 days in advance.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81051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Supporting Evidence: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revenue impact estimated at SAR 890,000. Clinics with SMS reminders (48h + 2h) show 35% lower no-show rates. Saturday morning slots have highest no-show rate (34%).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615184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Inconsistent appointment reminders. No penalty for repeat no-shows. Overbooking not calibrated to specialty-specific rates. Long booking horizons increase abandonment.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419856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Estimated annual revenue loss of SAR 10.7 Million from no-show appointments. Additional hidden cost in physician idle time and wasted clinic preparation.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422452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D8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 dual SMS reminder system (48h + 2h). Deploy specialty-specific overbooking ratios. Introduce waitlist backfill for same-day cancellations. Flag repeat no-show patients.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50292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E75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Importance: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30% reduction recovers SAR 3.2M annually while improving physician utilization. One of the highest-ROI operational improvements available.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515600" y="621792"/>
            <a:ext cx="1188720" cy="292608"/>
          </a:xfrm>
          <a:prstGeom prst="roundRect">
            <a:avLst>
              <a:gd name="adj" fmla="val 31250"/>
            </a:avLst>
          </a:prstGeom>
          <a:solidFill>
            <a:srgbClr val="0D8050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0" y="62179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 Cross-Hospital Procurement Price Variance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Supply Chain | Confidence: High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TopMed Insights Bank | March 2026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Observation: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 comparison across 15 hospitals reveals identical medical consumables procured at prices varying by 15-42%, with surgical gloves, IV sets, and wound care products showing widest variance.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81051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Supporting Evidence: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20 consumables show average price variance of 28%. Three hospitals consistently pay 15-20% premium. Vendor contracts have different renewal dates and terms.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615184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Decentralized procurement without network-wide benchmarking. Individual hospitals negotiate independently. No centralized contract management. Historical pricing accepted without rebidding.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419856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Estimated annual savings of SAR 5.2 Million by standardizing to the best-available network rate for top 100 consumables.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422452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D8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Establish centralized procurement dashboard. Consolidate vendor contracts for top 100 consumables. Implement mandatory competitive bidding &gt;SAR 100,000. Create quarterly price variance report.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50292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E75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Importance: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Centralized procurement is foundational for any multi-hospital network. Delivers immediate savings while building infrastructure for ongoing optimization.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515600" y="621792"/>
            <a:ext cx="1188720" cy="292608"/>
          </a:xfrm>
          <a:prstGeom prst="roundRect">
            <a:avLst>
              <a:gd name="adj" fmla="val 31250"/>
            </a:avLst>
          </a:prstGeom>
          <a:solidFill>
            <a:srgbClr val="0D8050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0" y="62179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 Incident Reporting Culture and Near-Miss Trends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&amp; Safety | Confidence: Medium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TopMed Insights Bank | March 2026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Observation: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Near-miss reporting rates vary 5x across hospitals (highest: 12.4/1,000 patient days; lowest: 2.3/1,000). Low-reporting hospitals don't have fewer incidents; they have weaker reporting culture.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81051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Supporting Evidence: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Hospitals with dedicated quality champions report 3.2x more near-misses. Medication near-misses account for 45% of reports. Reporting dropped 18% after a punitive response at one facility.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615184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Inconsistent just-culture implementation. Some hospitals still associate reporting with blame. Anonymous reporting not available at all facilities. No positive feedback loop.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419856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Under-reporting masks safety risks. Each reported near-miss prevents an average of 300 unsafe conditions. Low-reporting hospitals carry unquantified patient safety liability.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422452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D8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Standardize just-culture training with annual refresher. Implement anonymous digital reporting channel. Create monthly 'Safety Spotlight.' Share anonymized learnings quarterly.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50292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E75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Importance: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Near-miss reporting is a leading indicator of safety culture. Improving rates is a prerequisite for CBAHI accreditation excellence.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515600" y="621792"/>
            <a:ext cx="1188720" cy="292608"/>
          </a:xfrm>
          <a:prstGeom prst="roundRect">
            <a:avLst>
              <a:gd name="adj" fmla="val 31250"/>
            </a:avLst>
          </a:prstGeom>
          <a:solidFill>
            <a:srgbClr val="D4740A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0" y="62179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🩻  Radiology Report Turnaround Time by Modality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Radiology | Confidence: High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TopMed Insights Bank | March 2026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Observation: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TAT varies: X-ray 2.1h, Ultrasound 4.3h, CT 6.8h, MRI 11.2h. CT and MRI exceed the 4-hour target in 67% of cases.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81051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Supporting Evidence: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ED-ordered CT reports average 8.4 hours vs. 5.2 hours for scheduled outpatient. Weekend TAT is 2.3x longer. Three radiologists handle 60% of MRI reads.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615184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Uneven radiologist workload distribution. No priority queue for ED-ordered studies. Weekend coverage relies on on-call rather than active staffing.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419856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Delayed reports extend ED disposition by 2-4 hours and delay inpatient treatment decisions. Estimated SAR 1.8M annually from delayed discharges.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422452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D8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 priority-based PACS worklist. Redistribute MRI reading load. Add active evening radiologist shift (4 PM-midnight). Track TAT daily by modality.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50292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E75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Importance: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Radiology TAT directly impacts ED throughput, inpatient LOS, and physician satisfaction. Meeting 4-hour target is a competitive differentiator.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515600" y="621792"/>
            <a:ext cx="1188720" cy="292608"/>
          </a:xfrm>
          <a:prstGeom prst="roundRect">
            <a:avLst>
              <a:gd name="adj" fmla="val 31250"/>
            </a:avLst>
          </a:prstGeom>
          <a:solidFill>
            <a:srgbClr val="0D8050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0" y="62179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🔬  In-House vs. Send-Out Test Migration Opportunity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Laboratory | Confidence: Medium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TopMed Insights Bank | March 2026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Observation: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Send-out volume grew 24% YoY while in-house grew only 8%. 12 high-volume send-out tests could be performed in-house with existing or minimal additional equipment.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81051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Supporting Evidence: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send-out spend averages SAR 340,000. Top 12 tests represent 55% of send-out costs. In-house cost would be 40-65% lower. Send-out TAT: 5-7 days vs. same-day in-house.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615184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regular review of send-out menu against in-house capabilities. Equipment procurement requires lengthy approval. Some tests sent out historically when volumes were low.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419856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Migrating top 12 tests saves approximately SAR 1.4 Million annually while reducing TAT from 5-7 days to same-day.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422452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D8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Conduct feasibility study for top 12 tests. Build business case with ROI timeline. Prioritize migration by volume and margin. Set quarterly targets.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50292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E75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Importance: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In-house testing expansion aligns with TopMed's full-service strategy. Faster turnaround improves outcomes and reduces repeat visits.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515600" y="621792"/>
            <a:ext cx="1188720" cy="292608"/>
          </a:xfrm>
          <a:prstGeom prst="roundRect">
            <a:avLst>
              <a:gd name="adj" fmla="val 31250"/>
            </a:avLst>
          </a:prstGeom>
          <a:solidFill>
            <a:srgbClr val="D4740A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0" y="62179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🩺  Doctor Productivity and Clinic Slot Utilization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OPD | Confidence: High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TopMed Insights Bank | March 2026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Observation: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quartile physicians see 5.8 patients/clinic hour vs. 2.1 for bottom quartile. Clinic slot utilization averages 71%, meaning 29% of slots go unfilled.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81051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Supporting Evidence: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Specialties with standardized templates show 22% higher throughput. Clinics starting 15+ min late lose 1.5 slots/session. Double-booking varies 5-35% across physicians.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615184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standardized consultation time targets by visit type. Clinic start time not monitored. Patient flow bottlenecks at registration. Some physicians block slots for walk-ins that never materialize.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419856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Improving utilization from 71% to 85% would generate an estimated SAR 8.4 Million in additional annual OPD revenue without adding clinic hours or physicians.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422452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D8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 visit-type-based slot duration (new: 20min, follow-up: 10min). Track clinic start time adherence. Deploy pre-visit registration. Release unconfirmed slots 24h before.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50292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E75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Importance: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OPD is the front door. Maximizing productivity is the highest-leverage revenue growth initiative without capital expenditure.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515600" y="621792"/>
            <a:ext cx="1188720" cy="292608"/>
          </a:xfrm>
          <a:prstGeom prst="roundRect">
            <a:avLst>
              <a:gd name="adj" fmla="val 31250"/>
            </a:avLst>
          </a:prstGeom>
          <a:solidFill>
            <a:srgbClr val="0D8050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0" y="62179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💰  Accounts Receivable Aging by Payer Category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Cycle | Confidence: High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TopMed Insights Bank | March 2026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Observation: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AR is 78 days (target: 45). Government payers average 112 days, insurance 64 days, self-pay 43 days. AR &gt;90 days represents 34% of outstanding receivables.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81051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Supporting Evidence: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First-pass acceptance rate is 71% (target: 95%). Rejected claims take 28 days for resubmission. Three government contracts have no late-payment penalties. Monthly write-off &gt;180 days averages SAR 280,000.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615184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rejection rate from coding errors and incomplete documentation. No dedicated follow-up for aging government claims. Lack of automated claim tracking. Payment terms not enforced.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419856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Reducing AR from 78 to 55 days would release approximately SAR 18 Million in working capital. Improving first-pass to 90% reduces resubmission costs by SAR 1.2M annually.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422452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D8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automated claim scrubbing before submission. Create dedicated AR follow-up team for &gt;60 days. Renegotiate government contracts. Implement weekly AR aging dashboard.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50292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E75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Importance: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 flow is the lifeblood. AR optimization is the single highest-impact financial initiative, freeing capital while reducing bad debt.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515600" y="621792"/>
            <a:ext cx="1188720" cy="292608"/>
          </a:xfrm>
          <a:prstGeom prst="roundRect">
            <a:avLst>
              <a:gd name="adj" fmla="val 31250"/>
            </a:avLst>
          </a:prstGeom>
          <a:solidFill>
            <a:srgbClr val="0D8050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0" y="62179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 Overtime Cost vs. Patient Volume Correlation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Efficiency | Confidence: High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TopMed Insights Bank | March 2026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Observation: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Overtime spending increased 31% YoY while patient volume grew only 12%. The ratio suggests structural issues rather than demand-driven overtime.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81051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Supporting Evidence: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Nursing overtime is 68% of total overtime spend. ED, ICU, OR consume 52% of all overtime hours. Weekend overtime is 2.8x higher than weekday.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615184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Staffing models not updated for current volume patterns. Scheduling based on historical patterns. Overtime approval process is informal. No department-level visibility until monthly payroll.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419856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Estimated SAR 3.6 Million in reducible overtime annually. Additional benefit: reduced nurse burnout and turnover costs.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422452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D8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demand-based staffing model using 12-month data. Implement real-time overtime tracking dashboard. Require formal pre-approval for non-emergency overtime. Review shift patterns quarterly.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50292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E75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Importance: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Workforce cost is the largest operating expense. Data-driven staffing delivers immediate P&amp;L improvement while improving employee satisfaction.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515600" y="621792"/>
            <a:ext cx="1188720" cy="292608"/>
          </a:xfrm>
          <a:prstGeom prst="roundRect">
            <a:avLst>
              <a:gd name="adj" fmla="val 31250"/>
            </a:avLst>
          </a:prstGeom>
          <a:solidFill>
            <a:srgbClr val="0D8050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0" y="62179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🔗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5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3840480"/>
            <a:ext cx="9445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Cross-Department Insights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Cross-Department Insights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High-value opportunities that span multiple departments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TopMed Insights Bank | March 2026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 OPD-to-Radiology Referral Conversion Leakage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Departments: OPD + Radiology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3A6B"/>
                </a:solidFill>
              </a:rPr>
              <a:t>Question: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What % of OPD consultations that should result in imaging actually convert to radiology orders?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0" y="173736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8050"/>
                </a:solidFill>
              </a:rPr>
              <a:t>Insight: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Conversion rates vary 34-78% across specialties. Patients not scheduled within 48h have 45% abandonment.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144000" y="173736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EDF1F7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0" y="17373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</a:rPr>
              <a:t>Impact
</a:t>
            </a:r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SAR 3.1M annual radiology revenue leakage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840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 ED Admission to IPD Bed Assignment Wait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Departments: ED + IPD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3A6B"/>
                </a:solidFill>
              </a:rPr>
              <a:t>Question: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How long do admitted ED patients wait for an inpatient bed?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0" y="45720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8050"/>
                </a:solidFill>
              </a:rPr>
              <a:t>Insight: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Average 4.7 hours (target: 1 hour). During peak occupancy, boarding reaches 8+ hours.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144000" y="457200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EDF1F7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0" y="4572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</a:rPr>
              <a:t>Impact
</a:t>
            </a:r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SAR 2.8M in diverted/delayed revenue annually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Cross-Department Insights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High-value opportunities that span multiple departments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TopMed Insights Bank | March 2026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 Pharmacy Cost Per Inpatient Day by Department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Departments: Pharmacy + IPD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3A6B"/>
                </a:solidFill>
              </a:rPr>
              <a:t>Question: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Which departments have the highest pharmacy cost per patient day?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0" y="173736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8050"/>
                </a:solidFill>
              </a:rPr>
              <a:t>Insight: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Ranges from SAR 180 (General Ward) to SAR 2,400 (Oncology). ICU variance suggests prescribing pattern differences.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144000" y="173736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EDF1F7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0" y="17373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</a:rPr>
              <a:t>Impact
</a:t>
            </a:r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SAR 1.6M savings from standardizing ICU protocols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840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 End-to-End Revenue Cycle: Visit to Collection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Departments: OPD + Revenue Cycle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3A6B"/>
                </a:solidFill>
              </a:rPr>
              <a:t>Question: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What is the average time from patient visit to final payment collection?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0" y="45720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8050"/>
                </a:solidFill>
              </a:rPr>
              <a:t>Insight: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Average visit-to-cash: 94 days. Bottlenecks: coding (7d), submission (12d), adjudication (45d), rework (21d).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144000" y="457200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EDF1F7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0" y="4572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</a:rPr>
              <a:t>Impact
</a:t>
            </a:r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SAR 22M cash flow improvement (94 to 60 days)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Cross-Department Insights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High-value opportunities that span multiple departments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TopMed Insights Bank | March 2026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 Surgical Pathway: Consultation to 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Departments: OPD + OR + IPD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3A6B"/>
                </a:solidFill>
              </a:rPr>
              <a:t>Question: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What is the conversion rate from surgical consultation to completed surgery?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0" y="173736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8050"/>
                </a:solidFill>
              </a:rPr>
              <a:t>Insight: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Only 58% complete. Drop-offs: pre-surgical workup (18%), insurance (12%), wait time (7%), no-show (5%).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144000" y="173736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EDF1F7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0" y="17373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</a:rPr>
              <a:t>Impact
</a:t>
            </a:r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SAR 12M additional surgical revenue (58% to 75%)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840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 Lab TAT Impact on ED Disposition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Departments: Laboratory + 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3A6B"/>
                </a:solidFill>
              </a:rPr>
              <a:t>Question: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How does lab turnaround time affect ED patient disposition decisions?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0" y="45720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8050"/>
                </a:solidFill>
              </a:rPr>
              <a:t>Insight: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ED patients wait 2.3 hours for results. Stat lab exceeds 60-minute target in 41% of cases.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144000" y="457200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EDF1F7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0" y="4572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</a:rPr>
              <a:t>Impact
</a:t>
            </a:r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SAR 1.9M annual ED capacity recovery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📏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6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3840480"/>
            <a:ext cx="9445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 Benchmarks &amp; Industry Standards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 Benchmarks &amp; Industry Standards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ACEP, WHO, CMS, ACR, CAP, Joint Commission, Saudi MOH, CBAHI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TopMed Insights Bank | March 2026 | Confidential</a:t>
            </a:r>
            <a:endParaRPr lang="en-US" sz="8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114800"/>
                <a:gridCol w="65836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KPI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Industry Benchmark / Target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3A6B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</a:rPr>
                        <a:t>ED Door-to-Doctor Time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8050"/>
                          </a:solidFill>
                        </a:rPr>
                        <a:t>&lt; 30 min (ACEP)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3A6B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</a:rPr>
                        <a:t>LWBS Rate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8050"/>
                          </a:solidFill>
                        </a:rPr>
                        <a:t>&lt; 2-5% (Emergency Medicine)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3A6B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</a:rPr>
                        <a:t>Average Length of Stay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8050"/>
                          </a:solidFill>
                        </a:rPr>
                        <a:t>Per specialty: Saudi MOH benchmark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3A6B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</a:rPr>
                        <a:t>Bed Occupancy Rate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8050"/>
                          </a:solidFill>
                        </a:rPr>
                        <a:t>80-85% (WHO recommended)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3A6B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</a:rPr>
                        <a:t>30-Day Readmission Rate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8050"/>
                          </a:solidFill>
                        </a:rPr>
                        <a:t>&lt; 10% (CMS); &lt; 5% elective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3A6B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</a:rPr>
                        <a:t>Formulary Compliance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8050"/>
                          </a:solidFill>
                        </a:rPr>
                        <a:t>&gt; 90% (Joint Commission)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3A6B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</a:rPr>
                        <a:t>Patient Satisfaction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8050"/>
                          </a:solidFill>
                        </a:rPr>
                        <a:t>&gt; 85% (Top quartile Saudi)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3A6B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</a:rPr>
                        <a:t>No-Show Rate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8050"/>
                          </a:solidFill>
                        </a:rPr>
                        <a:t>&lt; 10% (Best practice)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3A6B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</a:rPr>
                        <a:t>Claim First-Pass Acceptance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8050"/>
                          </a:solidFill>
                        </a:rPr>
                        <a:t>&gt; 95% (Revenue cycle best)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3A6B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</a:rPr>
                        <a:t>Days in AR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8050"/>
                          </a:solidFill>
                        </a:rPr>
                        <a:t>&lt; 45 days (Industry target)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 Benchmarks &amp; Industry Standards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ACEP, WHO, CMS, ACR, CAP, Joint Commission, Saudi MOH, CBAHI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TopMed Insights Bank | March 2026 | Confidential</a:t>
            </a:r>
            <a:endParaRPr lang="en-US" sz="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114800"/>
                <a:gridCol w="65836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KPI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Industry Benchmark / Target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3A6B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</a:rPr>
                        <a:t>Radiology Report TAT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8050"/>
                          </a:solidFill>
                        </a:rPr>
                        <a:t>&lt; 4h routine; &lt; 1h ED stat (ACR)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3A6B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</a:rPr>
                        <a:t>Lab Stat TAT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8050"/>
                          </a:solidFill>
                        </a:rPr>
                        <a:t>&lt; 60 min (CAP)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3A6B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</a:rPr>
                        <a:t>Surgical Cancellation Rate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8050"/>
                          </a:solidFill>
                        </a:rPr>
                        <a:t>&lt; 5% same-day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3A6B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</a:rPr>
                        <a:t>Nurse-to-Patient Ratio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8050"/>
                          </a:solidFill>
                        </a:rPr>
                        <a:t>1:4 Med/Surg, 1:2 ICU (MOH)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3A6B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</a:rPr>
                        <a:t>HAI Rate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8050"/>
                          </a:solidFill>
                        </a:rPr>
                        <a:t>&lt; 2 per 1,000 patient days (WHO)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3A6B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</a:rPr>
                        <a:t>Incident Reporting Rate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8050"/>
                          </a:solidFill>
                        </a:rPr>
                        <a:t>&gt; 8 per 1,000 patient days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3A6B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</a:rPr>
                        <a:t>Overtime as % of Labor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8050"/>
                          </a:solidFill>
                        </a:rPr>
                        <a:t>&lt; 5% (Healthcare HR)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3A6B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</a:rPr>
                        <a:t>OPD Slot Utilization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8050"/>
                          </a:solidFill>
                        </a:rPr>
                        <a:t>&gt; 85% (Operational best)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3A6B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</a:rPr>
                        <a:t>Procurement Price Variance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8050"/>
                          </a:solidFill>
                        </a:rPr>
                        <a:t>&lt; 10% across network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3A6B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</a:rPr>
                        <a:t>Send-Out Test Ratio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8050"/>
                          </a:solidFill>
                        </a:rPr>
                        <a:t>&lt; 5% of total volume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🗂️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7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3840480"/>
            <a:ext cx="9445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Source Mapping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Source Mapping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data sources needed to extract and validate insights per area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TopMed Insights Bank | March 2026 | Confidential</a:t>
            </a:r>
            <a:endParaRPr lang="en-US" sz="8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80467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Department / Area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Primary Data Sources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A6B"/>
                          </a:solidFill>
                        </a:rPr>
                        <a:t>Emergency Department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HIS (ED Module), Triage System, Patient Flow Dashboard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A6B"/>
                          </a:solidFill>
                        </a:rPr>
                        <a:t>Inpatient Department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HIS (ADT Module), Bed Management System, Discharge Planning Module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A6B"/>
                          </a:solidFill>
                        </a:rPr>
                        <a:t>Pharmacy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Pharmacy Information System (PIS), Formulary Database, Procurement System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A6B"/>
                          </a:solidFill>
                        </a:rPr>
                        <a:t>Patient Experience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Satisfaction Survey System, Appointment Management, Online Review Platforms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A6B"/>
                          </a:solidFill>
                        </a:rPr>
                        <a:t>Supply Chain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ERP (Procurement Module), Inventory Management, Vendor Contract Database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A6B"/>
                          </a:solidFill>
                        </a:rPr>
                        <a:t>Quality &amp; Safety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Incident Reporting System, Infection Control Database, CBAHI Tracker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A6B"/>
                          </a:solidFill>
                        </a:rPr>
                        <a:t>Radiology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PACS, RIS, HIS Radiology Module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A6B"/>
                          </a:solidFill>
                        </a:rPr>
                        <a:t>Laboratory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LIS, Send-Out Tracking, Equipment Utilization Logs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A6B"/>
                          </a:solidFill>
                        </a:rPr>
                        <a:t>OPD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HIS (Appointment Module), Clinic Scheduling, Patient Registration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A6B"/>
                          </a:solidFill>
                        </a:rPr>
                        <a:t>Revenue Cycle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Billing System, Claims Management, Payer Portal, AR Reports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A6B"/>
                          </a:solidFill>
                        </a:rPr>
                        <a:t>Operations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HR/Payroll (Overtime), Facility Management, Financial Reporting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828800" y="210312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Prioritize top 5 Quick Wins for immediate implementation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265176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Assign department owners to each insight area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320040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Establish baseline KPIs using current data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374904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Build dashboards for real-time tracking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429768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Launch cross-department working groups for joint insights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484632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Set 90-day review cycle for progress tracking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0" y="5669280"/>
            <a:ext cx="3959352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585216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TopMed Insights Bank | March 2026 | Ahmed Nasr, Delivery PMO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TopMed - Saudi German Hospital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TopMed Insights Bank</dc:title>
  <dc:subject>Insights Bank - Additional Insight Ideas</dc:subject>
  <dc:creator>Ahmed Nasr - Delivery PMO</dc:creator>
  <cp:lastModifiedBy>Ahmed Nasr - Delivery PMO</cp:lastModifiedBy>
  <cp:revision>1</cp:revision>
  <dcterms:created xsi:type="dcterms:W3CDTF">2026-03-16T18:32:08Z</dcterms:created>
  <dcterms:modified xsi:type="dcterms:W3CDTF">2026-03-16T18:32:08Z</dcterms:modified>
</cp:coreProperties>
</file>